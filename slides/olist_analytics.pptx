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545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B2545"/>
                </a:solidFill>
                <a:latin typeface="Arial"/>
              </a:rPr>
              <a:t>Cumulative Revenue Growth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Revenue (GH₵)</c:v>
                </c:pt>
              </c:strCache>
            </c:strRef>
          </c:tx>
          <c:spPr>
            <a:solidFill>
              <a:srgbClr val="FF6B5B"/>
            </a:solidFill>
            <a:ln w="38100" cap="flat">
              <a:solidFill>
                <a:srgbClr val="FF6B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6B5B"/>
              </a:solidFill>
              <a:ln w="9525" cap="flat">
                <a:solidFill>
                  <a:srgbClr val="FF6B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2016-10</c:v>
                  </c:pt>
                  <c:pt idx="1">
                    <c:v>2017-01</c:v>
                  </c:pt>
                  <c:pt idx="2">
                    <c:v>2017-04</c:v>
                  </c:pt>
                  <c:pt idx="3">
                    <c:v>2017-07</c:v>
                  </c:pt>
                  <c:pt idx="4">
                    <c:v>2017-10</c:v>
                  </c:pt>
                  <c:pt idx="5">
                    <c:v>2018-01</c:v>
                  </c:pt>
                  <c:pt idx="6">
                    <c:v>2018-04</c:v>
                  </c:pt>
                  <c:pt idx="7">
                    <c:v>2018-07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10000</c:v>
                </c:pt>
                <c:pt idx="1">
                  <c:v>60000</c:v>
                </c:pt>
                <c:pt idx="2">
                  <c:v>700000</c:v>
                </c:pt>
                <c:pt idx="3">
                  <c:v>2100000</c:v>
                </c:pt>
                <c:pt idx="4">
                  <c:v>5200000</c:v>
                </c:pt>
                <c:pt idx="5">
                  <c:v>9000000</c:v>
                </c:pt>
                <c:pt idx="6">
                  <c:v>11800000</c:v>
                </c:pt>
                <c:pt idx="7">
                  <c:v>15700000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Arial"/>
              </a:rPr>
              <a:t>Average Spend by Quartile (GH₵)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spend (GH₵)</c:v>
                </c:pt>
              </c:strCache>
            </c:strRef>
          </c:tx>
          <c:spPr>
            <a:solidFill>
              <a:srgbClr val="FF6B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 — Top</c:v>
                  </c:pt>
                  <c:pt idx="1">
                    <c:v>Q2</c:v>
                  </c:pt>
                  <c:pt idx="2">
                    <c:v>Q3</c:v>
                  </c:pt>
                  <c:pt idx="3">
                    <c:v>Q4 — Bottom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396</c:v>
                </c:pt>
                <c:pt idx="1">
                  <c:v>141</c:v>
                </c:pt>
                <c:pt idx="2">
                  <c:v>84</c:v>
                </c:pt>
                <c:pt idx="3">
                  <c:v>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6D6E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6D6E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B254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545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2545"/>
                </a:solidFill>
                <a:latin typeface="Arial"/>
              </a:rPr>
              <a:t>Raw Accuracy (misleading on its own)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5C70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25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C70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6B5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Baseline
(always “on-time”)</c:v>
                  </c:pt>
                  <c:pt idx="1">
                    <c:v>Logistic
Regression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0.921</c:v>
                </c:pt>
                <c:pt idx="1">
                  <c:v>0.687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B25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545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2545"/>
                </a:solidFill>
                <a:latin typeface="Arial"/>
              </a:rPr>
              <a:t>Late Orders Actually Caught (recall)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 on 'late'</c:v>
                </c:pt>
              </c:strCache>
            </c:strRef>
          </c:tx>
          <c:spPr>
            <a:solidFill>
              <a:srgbClr val="5C70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25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C70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7173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Baseline</c:v>
                  </c:pt>
                  <c:pt idx="1">
                    <c:v>Logistic
Regression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0.51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B25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9692640" y="822960"/>
            <a:ext cx="2011680" cy="2011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286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ANALYTICS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2743200"/>
            <a:ext cx="8686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the customers, sellers, and delivery risks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drive marketplace growth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Engineering Capstone  ·  Brazilian Marketplace Data  ·  2016–2018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0F7173">
              <a:alpha val="12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orders to a growth decision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Six-stage pipeline, applied to nine relational tables from Olist's marketplace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755648" cy="2286000"/>
          </a:xfrm>
          <a:prstGeom prst="roundRect">
            <a:avLst>
              <a:gd name="adj" fmla="val 4167"/>
            </a:avLst>
          </a:prstGeom>
          <a:solidFill>
            <a:srgbClr val="0F7173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4231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20040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361188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CSVs → DuckDB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308860" y="2880360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C7080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441448" y="2103120"/>
            <a:ext cx="1755648" cy="2286000"/>
          </a:xfrm>
          <a:prstGeom prst="roundRect">
            <a:avLst>
              <a:gd name="adj" fmla="val 4167"/>
            </a:avLst>
          </a:prstGeom>
          <a:solidFill>
            <a:srgbClr val="E8F1F2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232" y="242316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532888" y="320040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2532888" y="361188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joins &amp; window fns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201668" y="2880360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C7080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4334256" y="2103120"/>
            <a:ext cx="1755648" cy="2286000"/>
          </a:xfrm>
          <a:prstGeom prst="roundRect">
            <a:avLst>
              <a:gd name="adj" fmla="val 4167"/>
            </a:avLst>
          </a:prstGeom>
          <a:solidFill>
            <a:srgbClr val="E8F1F2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42316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25696" y="320040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425696" y="361188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customer trends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094476" y="2880360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C7080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6227064" y="2103120"/>
            <a:ext cx="1755648" cy="2286000"/>
          </a:xfrm>
          <a:prstGeom prst="roundRect">
            <a:avLst>
              <a:gd name="adj" fmla="val 4167"/>
            </a:avLst>
          </a:prstGeom>
          <a:solidFill>
            <a:srgbClr val="E8F1F2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423160"/>
            <a:ext cx="640080" cy="6400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18504" y="320040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6318504" y="361188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Late-delivery model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7987284" y="2880360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C7080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8119872" y="2103120"/>
            <a:ext cx="1755648" cy="2286000"/>
          </a:xfrm>
          <a:prstGeom prst="roundRect">
            <a:avLst>
              <a:gd name="adj" fmla="val 4167"/>
            </a:avLst>
          </a:prstGeom>
          <a:solidFill>
            <a:srgbClr val="E8F1F2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7656" y="2423160"/>
            <a:ext cx="640080" cy="6400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211312" y="320040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8211312" y="361188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view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9880092" y="2880360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C7080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Shape 22"/>
          <p:cNvSpPr/>
          <p:nvPr/>
        </p:nvSpPr>
        <p:spPr>
          <a:xfrm>
            <a:off x="10012680" y="2103120"/>
            <a:ext cx="1755648" cy="2286000"/>
          </a:xfrm>
          <a:prstGeom prst="roundRect">
            <a:avLst>
              <a:gd name="adj" fmla="val 4167"/>
            </a:avLst>
          </a:prstGeom>
          <a:solidFill>
            <a:srgbClr val="E8F1F2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0464" y="2423160"/>
            <a:ext cx="640080" cy="64008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0104120" y="320040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10104120" y="361188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Manager-ready actions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548640" y="4892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confirmed: 0 duplicate order IDs  ·  0 nulls on join keys  ·  ~99,441 orders across 9 tables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nearly 20×'d in under two years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with cumulative running total (window function: SUM() OVER)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949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737360"/>
            <a:ext cx="3794760" cy="1051560"/>
          </a:xfrm>
          <a:prstGeom prst="roundRect">
            <a:avLst>
              <a:gd name="adj" fmla="val 6957"/>
            </a:avLst>
          </a:prstGeom>
          <a:solidFill>
            <a:srgbClr val="E8F1F2"/>
          </a:solidFill>
          <a:ln/>
        </p:spPr>
      </p:sp>
      <p:sp>
        <p:nvSpPr>
          <p:cNvPr id="6" name="Text 3"/>
          <p:cNvSpPr/>
          <p:nvPr/>
        </p:nvSpPr>
        <p:spPr>
          <a:xfrm>
            <a:off x="8001000" y="181051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1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GH₵ 15.7M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9966960" y="1810512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revenue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(full window)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818120" y="2971800"/>
            <a:ext cx="3794760" cy="1051560"/>
          </a:xfrm>
          <a:prstGeom prst="roundRect">
            <a:avLst>
              <a:gd name="adj" fmla="val 6957"/>
            </a:avLst>
          </a:prstGeom>
          <a:solidFill>
            <a:srgbClr val="E8F1F2"/>
          </a:solidFill>
          <a:ln/>
        </p:spPr>
      </p:sp>
      <p:sp>
        <p:nvSpPr>
          <p:cNvPr id="9" name="Text 6"/>
          <p:cNvSpPr/>
          <p:nvPr/>
        </p:nvSpPr>
        <p:spPr>
          <a:xfrm>
            <a:off x="8001000" y="304495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1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18×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9966960" y="3044952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Growth, first → last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818120" y="4206240"/>
            <a:ext cx="3794760" cy="1051560"/>
          </a:xfrm>
          <a:prstGeom prst="roundRect">
            <a:avLst>
              <a:gd name="adj" fmla="val 6957"/>
            </a:avLst>
          </a:prstGeom>
          <a:solidFill>
            <a:srgbClr val="E8F1F2"/>
          </a:solidFill>
          <a:ln/>
        </p:spPr>
      </p:sp>
      <p:sp>
        <p:nvSpPr>
          <p:cNvPr id="12" name="Text 9"/>
          <p:cNvSpPr/>
          <p:nvPr/>
        </p:nvSpPr>
        <p:spPr>
          <a:xfrm>
            <a:off x="8001000" y="427939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1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9966960" y="4279392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data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Spend is heavily concentrated in top-quartile customers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split into value quartiles (window function: NTILE(4) OVER)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58521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76656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766560" y="214884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Top-quartile customers spend roughly 8× more than the bottom quartile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identifiable segment drives outsized revenue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spend on this group has the highest expected return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4663440"/>
            <a:ext cx="548640" cy="548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06640" y="47091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6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customers = your retention priority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category has its own leaderboard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ranked by revenue within category (window function: RANK() OVER PARTITION BY)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675120" cy="3017520"/>
        </p:xfrm>
        <a:graphic>
          <a:graphicData uri="http://schemas.openxmlformats.org/drawingml/2006/table">
            <a:tbl>
              <a:tblPr/>
              <a:tblGrid>
                <a:gridCol w="3840480"/>
                <a:gridCol w="1554480"/>
                <a:gridCol w="1280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17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 Rank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17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Share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17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bed_bath_table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 seller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health_beauty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 seller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sports_leisure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 seller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furniture_decor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 seller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computers_accessories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 seller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645920"/>
            <a:ext cx="4069080" cy="3017520"/>
          </a:xfrm>
          <a:prstGeom prst="roundRect">
            <a:avLst>
              <a:gd name="adj" fmla="val 2424"/>
            </a:avLst>
          </a:prstGeom>
          <a:solidFill>
            <a:srgbClr val="E8F1F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87452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412480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818120" y="242316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category is led by a small number of top-ranked sellers who capture the majority of category revenue. These sellers are the natural partners for co-marketing, featured placement, and priority fulfillment support — boosting them has category-wide upside.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548640" y="4892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JOIN order_items → products → sellers, then RANK() partitioned by category, ordered by revenue.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late deliveries before they happen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vs. a majority-class baseline — 7.9% of orders in the test set arrive late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852160" y="155448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892040"/>
            <a:ext cx="320040" cy="32004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960120" y="486460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baseline's higher accuracy is an artifact of class imbalance (92% of orders are on-time) — it catches 0% of late orders. ROC-AUC = 0.638 confirms the model has real, moderate predictive signal.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9784080" y="457200"/>
            <a:ext cx="1737360" cy="1737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levers, one growth strategy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96596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13304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28600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29718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top-quartile customers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960120" y="370332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6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customers spend ~8× the bottom quartile. Launch a loyalty offer targeted at this segment — highest expected return per dollar spent.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389120" y="196596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13304F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286000"/>
            <a:ext cx="502920" cy="5029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709160" y="29718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high-risk deliveries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4709160" y="370332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6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catches 51% of late orders (vs. 0% for a naive baseline). Use it to trigger proactive customer notice and tighter delivery estimates on flagged orders.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8138160" y="196596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13304F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2286000"/>
            <a:ext cx="502920" cy="5029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458200" y="29718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category-leading sellers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8458200" y="370332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6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set of top-ranked sellers dominates each category. Prioritize them for co-marketing and featured placement to compound category growth.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640080" y="6263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re-measure late-delivery rate and Q1 retention next quarter to validate impact.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 E-Commerce Analytics</dc:title>
  <dc:subject>PptxGenJS Presentation</dc:subject>
  <dc:creator>Analytics Team</dc:creator>
  <cp:lastModifiedBy>Analytics Team</cp:lastModifiedBy>
  <cp:revision>1</cp:revision>
  <dcterms:created xsi:type="dcterms:W3CDTF">2026-07-01T19:26:25Z</dcterms:created>
  <dcterms:modified xsi:type="dcterms:W3CDTF">2026-07-01T19:26:25Z</dcterms:modified>
</cp:coreProperties>
</file>