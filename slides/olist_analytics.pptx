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9" d="100"/>
          <a:sy n="39" d="100"/>
        </p:scale>
        <p:origin x="840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Arial"/>
              </a:rPr>
              <a:t>Cumulative Revenue Growth (GH₵)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Revenue (GH₵)</c:v>
                </c:pt>
              </c:strCache>
            </c:strRef>
          </c:tx>
          <c:spPr>
            <a:ln w="38100" cap="flat">
              <a:solidFill>
                <a:srgbClr val="FF6B5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B5B"/>
              </a:solidFill>
              <a:ln w="9525" cap="flat">
                <a:solidFill>
                  <a:srgbClr val="FF6B5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2016-10</c:v>
                </c:pt>
                <c:pt idx="1">
                  <c:v>2017-01</c:v>
                </c:pt>
                <c:pt idx="2">
                  <c:v>2017-04</c:v>
                </c:pt>
                <c:pt idx="3">
                  <c:v>2017-07</c:v>
                </c:pt>
                <c:pt idx="4">
                  <c:v>2017-10</c:v>
                </c:pt>
                <c:pt idx="5">
                  <c:v>2018-01</c:v>
                </c:pt>
                <c:pt idx="6">
                  <c:v>2018-04</c:v>
                </c:pt>
                <c:pt idx="7">
                  <c:v>2018-08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108432</c:v>
                </c:pt>
                <c:pt idx="1">
                  <c:v>396054</c:v>
                </c:pt>
                <c:pt idx="2">
                  <c:v>2737613</c:v>
                </c:pt>
                <c:pt idx="3">
                  <c:v>6225359</c:v>
                </c:pt>
                <c:pt idx="4">
                  <c:v>12129305</c:v>
                </c:pt>
                <c:pt idx="5">
                  <c:v>20320925</c:v>
                </c:pt>
                <c:pt idx="6">
                  <c:v>24218574</c:v>
                </c:pt>
                <c:pt idx="7">
                  <c:v>33044607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D35-489B-8392-88ED0643F1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0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0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Arial"/>
              </a:rPr>
              <a:t>Average Spend by Quartile (GH₵)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spend (GH₵)</c:v>
                </c:pt>
              </c:strCache>
            </c:strRef>
          </c:tx>
          <c:spPr>
            <a:solidFill>
              <a:srgbClr val="FF6B5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 — Top</c:v>
                </c:pt>
                <c:pt idx="1">
                  <c:v>Q2</c:v>
                </c:pt>
                <c:pt idx="2">
                  <c:v>Q3</c:v>
                </c:pt>
                <c:pt idx="3">
                  <c:v>Q4 — Bottom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828</c:v>
                </c:pt>
                <c:pt idx="1">
                  <c:v>297</c:v>
                </c:pt>
                <c:pt idx="2">
                  <c:v>176</c:v>
                </c:pt>
                <c:pt idx="3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00-4801-86C4-E3FC0244274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6D6E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6D6E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B254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545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B2545"/>
                </a:solidFill>
                <a:latin typeface="Arial"/>
              </a:rPr>
              <a:t>Raw Accuracy (misleading alone)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5C708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00B-43A7-9BB4-4A104B263804}"/>
              </c:ext>
            </c:extLst>
          </c:dPt>
          <c:dPt>
            <c:idx val="1"/>
            <c:invertIfNegative val="0"/>
            <c:bubble3D val="0"/>
            <c:spPr>
              <a:solidFill>
                <a:srgbClr val="FF6B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00B-43A7-9BB4-4A104B26380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254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(always “on-time”)</c:v>
                </c:pt>
                <c:pt idx="1">
                  <c:v>Logistic
Regression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0.92100000000000004</c:v>
                </c:pt>
                <c:pt idx="1">
                  <c:v>0.68700000000000006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00B-43A7-9BB4-4A104B2638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0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0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545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B2545"/>
                </a:solidFill>
                <a:latin typeface="Arial"/>
              </a:rPr>
              <a:t>Late Orders Actually Caught (recall)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 on 'late'</c:v>
                </c:pt>
              </c:strCache>
            </c:strRef>
          </c:tx>
          <c:spPr>
            <a:solidFill>
              <a:srgbClr val="5C708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C93-44B1-B0CC-ECE13CB05D37}"/>
              </c:ext>
            </c:extLst>
          </c:dPt>
          <c:dPt>
            <c:idx val="1"/>
            <c:invertIfNegative val="0"/>
            <c:bubble3D val="0"/>
            <c:spPr>
              <a:solidFill>
                <a:srgbClr val="0F717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C93-44B1-B0CC-ECE13CB05D3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254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</c:v>
                </c:pt>
                <c:pt idx="1">
                  <c:v>Logistic
Regression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0.51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93-44B1-B0CC-ECE13CB05D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0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0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6011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92640" y="82296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E-COMMERCE ANALYTICS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2743200"/>
            <a:ext cx="8686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customers, sellers, and delivery risks</a:t>
            </a:r>
            <a:endParaRPr lang="en-US" sz="3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drive marketplace growth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Engineering Capstone  ·  Brazilian Marketplace Data  ·  2016–2018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0F7173">
              <a:alpha val="12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orders to a growth decision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Six-stage pipeline, applied to nine relational tables from Olist's marketplace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0F7173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24231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6118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CSVs → DuckDB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2308860" y="2880360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441448" y="210312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E8F1F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9232" y="242316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532888" y="32004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2532888" y="36118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joins &amp; window fns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201668" y="2880360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334256" y="210312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E8F1F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242316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25696" y="32004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425696" y="36118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customer trends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6094476" y="2880360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227064" y="210312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E8F1F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242316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18504" y="32004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6318504" y="36118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Late-delivery model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987284" y="2880360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8119872" y="210312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E8F1F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7656" y="242316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211312" y="32004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8211312" y="36118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view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9880092" y="2880360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7080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10012680" y="210312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E8F1F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0464" y="2423160"/>
            <a:ext cx="640080" cy="64008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104120" y="32004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10104120" y="36118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Manager-ready actions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54864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confirmed: 0 duplicate order IDs  ·  0 nulls on join keys  ·  99,441 orders across 9 tables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grew nearly 20× in under two years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with cumulative running total (window function: SUM() OVER)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69494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37360"/>
            <a:ext cx="3794760" cy="1051560"/>
          </a:xfrm>
          <a:prstGeom prst="roundRect">
            <a:avLst>
              <a:gd name="adj" fmla="val 6957"/>
            </a:avLst>
          </a:prstGeom>
          <a:solidFill>
            <a:srgbClr val="E8F1F2"/>
          </a:solidFill>
          <a:ln/>
        </p:spPr>
      </p:sp>
      <p:sp>
        <p:nvSpPr>
          <p:cNvPr id="6" name="Text 3"/>
          <p:cNvSpPr/>
          <p:nvPr/>
        </p:nvSpPr>
        <p:spPr>
          <a:xfrm>
            <a:off x="8001000" y="18105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GH₵ 33.0M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9966960" y="181051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(full window)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818120" y="2971800"/>
            <a:ext cx="3794760" cy="1051560"/>
          </a:xfrm>
          <a:prstGeom prst="roundRect">
            <a:avLst>
              <a:gd name="adj" fmla="val 6957"/>
            </a:avLst>
          </a:prstGeom>
          <a:solidFill>
            <a:srgbClr val="E8F1F2"/>
          </a:solidFill>
          <a:ln/>
        </p:spPr>
      </p:sp>
      <p:sp>
        <p:nvSpPr>
          <p:cNvPr id="9" name="Text 6"/>
          <p:cNvSpPr/>
          <p:nvPr/>
        </p:nvSpPr>
        <p:spPr>
          <a:xfrm>
            <a:off x="8001000" y="30449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19.4×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9966960" y="304495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Growth, first → last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month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818120" y="4206240"/>
            <a:ext cx="3794760" cy="1051560"/>
          </a:xfrm>
          <a:prstGeom prst="roundRect">
            <a:avLst>
              <a:gd name="adj" fmla="val 6957"/>
            </a:avLst>
          </a:prstGeom>
          <a:solidFill>
            <a:srgbClr val="E8F1F2"/>
          </a:solidFill>
          <a:ln/>
        </p:spPr>
      </p:sp>
      <p:sp>
        <p:nvSpPr>
          <p:cNvPr id="12" name="Text 9"/>
          <p:cNvSpPr/>
          <p:nvPr/>
        </p:nvSpPr>
        <p:spPr>
          <a:xfrm>
            <a:off x="800100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966960" y="427939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(Sep '16–Sep '18)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486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measured Oct 2016 (GH₵107,845) → Aug 2018 (GH₵2,093,644), the first and last full months of data.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is heavily concentrated in top-quartile customers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split into value quartiles (window function: NTILE(4) OVER)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58521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766560" y="214884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Top-quartile customers spend ~9× more than the bottom quartile (GH₵828 vs GH₵92 average)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customers alone account for GH₵19.7M of the GH₵33.0M total — nearly 60% of all revenue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identifiable segment drives outsized revenue</a:t>
            </a:r>
            <a:endParaRPr lang="en-US" sz="13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663440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6640" y="47091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customers = your retention priority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category has its own leaderboard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ranked by revenue within category (window function: RANK() OVER PARTITION BY)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30175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Seller Revenue (GH₵)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17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Sold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1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agro_industria_e_comercio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GH₵66,306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GH₵10,447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alimentos_bebidas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GH₵9,676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GH₵22,688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artes_e_artesanato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GH₵1,382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45920"/>
            <a:ext cx="4069080" cy="3017520"/>
          </a:xfrm>
          <a:prstGeom prst="roundRect">
            <a:avLst>
              <a:gd name="adj" fmla="val 2424"/>
            </a:avLst>
          </a:prstGeom>
          <a:solidFill>
            <a:srgbClr val="E8F1F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874520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818120" y="24231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top-ranked seller per category can generate tens of thousands in revenue from under 100 items. These sellers are the natural partners for co-marketing, featured placement, and priority fulfillment support — boosting them has category-wide upside.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54864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JOIN order_items → products → sellers, then RANK() partitioned by category, ordered by revenue. Sample of 5 categories shown; GH₵ at 2.10 BRL rate.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late deliveries before they happen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vs. a majority-class baseline — 7.9% of orders in the test set arrive late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5852160" y="155448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92040"/>
            <a:ext cx="320040" cy="3200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960120" y="48646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baseline's higher accuracy is an artifact of class imbalance (92% of orders are on-time) — it catches 0% of late orders. ROC-AUC = 0.638 confirms the model has real, moderate predictive signal.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9784080" y="45720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levers, one growth strategy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9659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13304F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2860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2971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top-quartile customers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960120" y="370332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customers spend ~9× the bottom quartile (GH₵828 vs GH₵92 avg) and drive ~60% of total revenue. Launch a targeted loyalty offer — highest expected return per dollar spent.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389120" y="19659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13304F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28600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09160" y="2971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high-risk deliveries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4709160" y="370332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catches 51% of late orders (vs. 0% for a naive baseline). Use it to trigger proactive customer notice and tighter delivery estimates on flagged orders.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138160" y="19659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13304F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228600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58200" y="2971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category-leading sellers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8458200" y="370332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top-ranked seller can generate GH₵66K+ from under 100 items. Prioritize these sellers for co-marketing and featured placement to compound category growth.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263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re-measure late-delivery rate and Q1 retention next quarter to validate impact.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632</Words>
  <Application>Microsoft Office PowerPoint</Application>
  <PresentationFormat>Widescreen</PresentationFormat>
  <Paragraphs>89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E-Commerce Analytics</dc:title>
  <dc:subject>PptxGenJS Presentation</dc:subject>
  <dc:creator>Analytics Team</dc:creator>
  <cp:lastModifiedBy>Abigail Abena Dadzie</cp:lastModifiedBy>
  <cp:revision>1</cp:revision>
  <dcterms:created xsi:type="dcterms:W3CDTF">2026-07-04T16:08:23Z</dcterms:created>
  <dcterms:modified xsi:type="dcterms:W3CDTF">2026-07-04T16:22:43Z</dcterms:modified>
</cp:coreProperties>
</file>